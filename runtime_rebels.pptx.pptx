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9" r:id="rId4"/>
    <p:sldId id="263" r:id="rId5"/>
    <p:sldId id="262" r:id="rId6"/>
    <p:sldId id="261" r:id="rId7"/>
    <p:sldId id="258" r:id="rId8"/>
    <p:sldId id="260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80280" y="1196640"/>
            <a:ext cx="6686280" cy="86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14400" y="2365920"/>
            <a:ext cx="795492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9418320" y="2365920"/>
            <a:ext cx="795492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ftr" idx="10"/>
          </p:nvPr>
        </p:nvSpPr>
        <p:spPr>
          <a:xfrm>
            <a:off x="6217920" y="9567000"/>
            <a:ext cx="5851800" cy="5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dt" idx="11"/>
          </p:nvPr>
        </p:nvSpPr>
        <p:spPr>
          <a:xfrm>
            <a:off x="91440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12"/>
          </p:nvPr>
        </p:nvSpPr>
        <p:spPr>
          <a:xfrm>
            <a:off x="13167360" y="9567000"/>
            <a:ext cx="4205880" cy="51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6BFB3F-B86D-497D-99A3-188FDA6ADA80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68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0385" y="1196591"/>
            <a:ext cx="6686550" cy="864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688022" y="9936971"/>
            <a:ext cx="222250" cy="219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25" dirty="0">
                <a:latin typeface="Arial MT"/>
                <a:cs typeface="Arial MT"/>
              </a:rPr>
              <a:t>‹#›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3366" y="399320"/>
            <a:ext cx="5117465" cy="157924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1345"/>
              </a:spcBef>
            </a:pPr>
            <a:r>
              <a:rPr sz="5600" b="0" spc="-10" dirty="0">
                <a:solidFill>
                  <a:srgbClr val="FFFFFF"/>
                </a:solidFill>
                <a:latin typeface="Arial MT"/>
                <a:cs typeface="Arial MT"/>
              </a:rPr>
              <a:t>PORTFOLIO MANAGEMENT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198" y="4686300"/>
            <a:ext cx="3421379" cy="3359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Team: RunTime_Rebels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2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Members: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Prince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Singh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Prithiviraj</a:t>
            </a:r>
            <a:endParaRPr sz="2800" dirty="0">
              <a:latin typeface="Arial"/>
              <a:cs typeface="Arial"/>
            </a:endParaRPr>
          </a:p>
          <a:p>
            <a:pPr marL="12700" marR="1256030">
              <a:lnSpc>
                <a:spcPct val="111600"/>
              </a:lnSpc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Vishnu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priya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Shreeya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143000" y="1371600"/>
            <a:ext cx="6400800" cy="11102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lstStyle/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lang="en-US" sz="3600" b="0" u="none" strike="noStrike" spc="119">
                <a:solidFill>
                  <a:srgbClr val="1B1B26"/>
                </a:solidFill>
                <a:effectLst/>
                <a:uFillTx/>
                <a:latin typeface="Trebuchet MS"/>
              </a:rPr>
              <a:t>The</a:t>
            </a:r>
            <a:r>
              <a:rPr lang="en-US" sz="3600" b="0" u="none" strike="noStrike" spc="-176">
                <a:solidFill>
                  <a:srgbClr val="1B1B26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 spc="113">
                <a:solidFill>
                  <a:srgbClr val="1B1B26"/>
                </a:solidFill>
                <a:effectLst/>
                <a:uFillTx/>
                <a:latin typeface="Trebuchet MS"/>
              </a:rPr>
              <a:t>Problem</a:t>
            </a:r>
            <a:r>
              <a:rPr lang="en-US" sz="3600" b="0" u="none" strike="noStrike" spc="-176">
                <a:solidFill>
                  <a:srgbClr val="1B1B26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>
                <a:solidFill>
                  <a:srgbClr val="1B1B26"/>
                </a:solidFill>
                <a:effectLst/>
                <a:uFillTx/>
                <a:latin typeface="Trebuchet MS"/>
              </a:rPr>
              <a:t>&amp;</a:t>
            </a:r>
            <a:r>
              <a:rPr lang="en-US" sz="3600" b="0" u="none" strike="noStrike" spc="-176">
                <a:solidFill>
                  <a:srgbClr val="1B1B26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 spc="119">
                <a:solidFill>
                  <a:srgbClr val="1B1B26"/>
                </a:solidFill>
                <a:effectLst/>
                <a:uFillTx/>
                <a:latin typeface="Trebuchet MS"/>
              </a:rPr>
              <a:t>The</a:t>
            </a:r>
            <a:r>
              <a:rPr lang="en-US" sz="3600" b="0" u="none" strike="noStrike" spc="-176">
                <a:solidFill>
                  <a:srgbClr val="1B1B26"/>
                </a:solidFill>
                <a:effectLst/>
                <a:uFillTx/>
                <a:latin typeface="Trebuchet MS"/>
              </a:rPr>
              <a:t> </a:t>
            </a:r>
            <a:r>
              <a:rPr lang="en-US" sz="3600" b="0" u="none" strike="noStrike" spc="54">
                <a:solidFill>
                  <a:srgbClr val="1B1B26"/>
                </a:solidFill>
                <a:effectLst/>
                <a:uFillTx/>
                <a:latin typeface="Trebuchet MS"/>
              </a:rPr>
              <a:t>Solution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object 3"/>
          <p:cNvSpPr/>
          <p:nvPr/>
        </p:nvSpPr>
        <p:spPr>
          <a:xfrm>
            <a:off x="1207440" y="3261240"/>
            <a:ext cx="7012080" cy="223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200" b="0" u="none" strike="noStrike" spc="51">
                <a:solidFill>
                  <a:srgbClr val="C31D3A"/>
                </a:solidFill>
                <a:effectLst/>
                <a:uFillTx/>
                <a:latin typeface="Trebuchet MS"/>
              </a:rPr>
              <a:t>The</a:t>
            </a:r>
            <a:r>
              <a:rPr lang="en-US" sz="2200" b="0" u="none" strike="noStrike" spc="-74">
                <a:solidFill>
                  <a:srgbClr val="C31D3A"/>
                </a:solidFill>
                <a:effectLst/>
                <a:uFillTx/>
                <a:latin typeface="Trebuchet MS"/>
              </a:rPr>
              <a:t> </a:t>
            </a:r>
            <a:r>
              <a:rPr lang="en-US" sz="2200" b="0" u="none" strike="noStrike" spc="45">
                <a:solidFill>
                  <a:srgbClr val="C31D3A"/>
                </a:solidFill>
                <a:effectLst/>
                <a:uFillTx/>
                <a:latin typeface="Trebuchet MS"/>
              </a:rPr>
              <a:t>Problem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6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>
              <a:lnSpc>
                <a:spcPct val="100000"/>
              </a:lnSpc>
            </a:pPr>
            <a:r>
              <a:rPr lang="en-US" sz="2000" b="1" u="none" strike="noStrike" spc="54">
                <a:solidFill>
                  <a:srgbClr val="3C3838"/>
                </a:solidFill>
                <a:effectLst/>
                <a:uFillTx/>
                <a:latin typeface="Trebuchet MS"/>
              </a:rPr>
              <a:t>Fragmented</a:t>
            </a:r>
            <a:r>
              <a:rPr lang="en-US" sz="2000" b="1" u="none" strike="noStrike" spc="74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2000" b="1" u="none" strike="noStrike">
                <a:solidFill>
                  <a:srgbClr val="3C3838"/>
                </a:solidFill>
                <a:effectLst/>
                <a:uFillTx/>
                <a:latin typeface="Trebuchet MS"/>
              </a:rPr>
              <a:t>Investment</a:t>
            </a:r>
            <a:r>
              <a:rPr lang="en-US" sz="2000" b="1" u="none" strike="noStrike" spc="74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2000" b="1" u="none" strike="noStrike" spc="71">
                <a:solidFill>
                  <a:srgbClr val="3C3838"/>
                </a:solidFill>
                <a:effectLst/>
                <a:uFillTx/>
                <a:latin typeface="Trebuchet MS"/>
              </a:rPr>
              <a:t>Managemen</a:t>
            </a:r>
            <a:r>
              <a:rPr lang="en-US" sz="2000" b="0" u="none" strike="noStrike" spc="71">
                <a:solidFill>
                  <a:srgbClr val="3C3838"/>
                </a:solidFill>
                <a:effectLst/>
                <a:uFillTx/>
                <a:latin typeface="Trebuchet MS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6600">
              <a:lnSpc>
                <a:spcPct val="116000"/>
              </a:lnSpc>
              <a:spcBef>
                <a:spcPts val="961"/>
              </a:spcBef>
            </a:pPr>
            <a:r>
              <a:rPr lang="en-US" sz="20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Investors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rely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on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multiple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disconnected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platforms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to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manage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different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asset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classes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51">
                <a:solidFill>
                  <a:srgbClr val="3C3838"/>
                </a:solidFill>
                <a:effectLst/>
                <a:uFillTx/>
                <a:latin typeface="Roboto"/>
              </a:rPr>
              <a:t>—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creating</a:t>
            </a:r>
            <a:r>
              <a:rPr lang="en-US" sz="2000" b="0" u="none" strike="noStrike" spc="-5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silos,</a:t>
            </a:r>
            <a:r>
              <a:rPr lang="en-US" sz="2000" b="0" u="none" strike="noStrike" spc="-5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blind</a:t>
            </a:r>
            <a:r>
              <a:rPr lang="en-US" sz="2000" b="0" u="none" strike="noStrike" spc="-5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spots,</a:t>
            </a:r>
            <a:r>
              <a:rPr lang="en-US" sz="2000" b="0" u="none" strike="noStrike" spc="-5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and</a:t>
            </a:r>
            <a:r>
              <a:rPr lang="en-US" sz="2000" b="0" u="none" strike="noStrike" spc="-5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operational</a:t>
            </a:r>
            <a:r>
              <a:rPr lang="en-US" sz="2000" b="0" u="none" strike="noStrike" spc="-5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overhea</a:t>
            </a: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bject 4"/>
          <p:cNvSpPr/>
          <p:nvPr/>
        </p:nvSpPr>
        <p:spPr>
          <a:xfrm>
            <a:off x="1371600" y="6400800"/>
            <a:ext cx="7468560" cy="14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1" u="none" strike="noStrike" spc="71">
                <a:solidFill>
                  <a:srgbClr val="3C3838"/>
                </a:solidFill>
                <a:effectLst/>
                <a:uFillTx/>
                <a:latin typeface="Trebuchet MS"/>
              </a:rPr>
              <a:t>Manual</a:t>
            </a:r>
            <a:r>
              <a:rPr lang="en-US" sz="2000" b="1" u="none" strike="noStrike" spc="-79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2000" b="1" u="none" strike="noStrike" spc="125">
                <a:solidFill>
                  <a:srgbClr val="3C3838"/>
                </a:solidFill>
                <a:effectLst/>
                <a:uFillTx/>
                <a:latin typeface="Trebuchet MS"/>
              </a:rPr>
              <a:t>P/L</a:t>
            </a:r>
            <a:r>
              <a:rPr lang="en-US" sz="2000" b="1" u="none" strike="noStrike" spc="-79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2000" b="1" u="none" strike="noStrike" spc="-11">
                <a:solidFill>
                  <a:srgbClr val="3C3838"/>
                </a:solidFill>
                <a:effectLst/>
                <a:uFillTx/>
                <a:latin typeface="Trebuchet MS"/>
              </a:rPr>
              <a:t>Tracking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6000"/>
              </a:lnSpc>
              <a:spcBef>
                <a:spcPts val="955"/>
              </a:spcBef>
            </a:pP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Profit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and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loss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calculations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done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by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hand</a:t>
            </a:r>
            <a:r>
              <a:rPr lang="en-US" sz="2000" b="0" u="none" strike="noStrike" spc="-1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are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54">
                <a:solidFill>
                  <a:srgbClr val="3C3838"/>
                </a:solidFill>
                <a:effectLst/>
                <a:uFillTx/>
                <a:latin typeface="Roboto"/>
              </a:rPr>
              <a:t>time-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consuming,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54">
                <a:solidFill>
                  <a:srgbClr val="3C3838"/>
                </a:solidFill>
                <a:effectLst/>
                <a:uFillTx/>
                <a:latin typeface="Roboto"/>
              </a:rPr>
              <a:t>error-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prone,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and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impossible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to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scale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across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growing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portfolio.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5"/>
          <p:cNvSpPr/>
          <p:nvPr/>
        </p:nvSpPr>
        <p:spPr>
          <a:xfrm>
            <a:off x="1395360" y="8469360"/>
            <a:ext cx="7333920" cy="149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000" b="1" u="none" strike="noStrike">
                <a:solidFill>
                  <a:srgbClr val="3C3838"/>
                </a:solidFill>
                <a:effectLst/>
                <a:uFillTx/>
                <a:latin typeface="Trebuchet MS"/>
              </a:rPr>
              <a:t>Global</a:t>
            </a:r>
            <a:r>
              <a:rPr lang="en-US" sz="2000" b="1" u="none" strike="noStrike" spc="130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2000" b="1" u="none" strike="noStrike" spc="-11">
                <a:solidFill>
                  <a:srgbClr val="3C3838"/>
                </a:solidFill>
                <a:effectLst/>
                <a:uFillTx/>
                <a:latin typeface="Trebuchet MS"/>
              </a:rPr>
              <a:t>Complexity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6000"/>
              </a:lnSpc>
              <a:spcBef>
                <a:spcPts val="955"/>
              </a:spcBef>
            </a:pP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Currency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conversion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across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international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investments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adds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further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layer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of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friction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—</a:t>
            </a:r>
            <a:r>
              <a:rPr lang="en-US" sz="20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with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no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automated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tooling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to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reconcile</a:t>
            </a:r>
            <a:r>
              <a:rPr lang="en-US" sz="20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54">
                <a:solidFill>
                  <a:srgbClr val="3C3838"/>
                </a:solidFill>
                <a:effectLst/>
                <a:uFillTx/>
                <a:latin typeface="Roboto"/>
              </a:rPr>
              <a:t>multi-</a:t>
            </a:r>
            <a:r>
              <a:rPr lang="en-US" sz="20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currency</a:t>
            </a:r>
            <a:r>
              <a:rPr lang="en-US" sz="20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0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holdings.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6"/>
          <p:cNvSpPr/>
          <p:nvPr/>
        </p:nvSpPr>
        <p:spPr>
          <a:xfrm>
            <a:off x="9375480" y="3269880"/>
            <a:ext cx="7530120" cy="21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400" b="0" u="none" strike="noStrike" spc="51">
                <a:solidFill>
                  <a:srgbClr val="C31D3A"/>
                </a:solidFill>
                <a:effectLst/>
                <a:uFillTx/>
                <a:latin typeface="Trebuchet MS"/>
              </a:rPr>
              <a:t>The</a:t>
            </a:r>
            <a:r>
              <a:rPr lang="en-US" sz="2400" b="0" u="none" strike="noStrike" spc="-74">
                <a:solidFill>
                  <a:srgbClr val="C31D3A"/>
                </a:solidFill>
                <a:effectLst/>
                <a:uFillTx/>
                <a:latin typeface="Trebuchet MS"/>
              </a:rPr>
              <a:t> </a:t>
            </a:r>
            <a:r>
              <a:rPr lang="en-US" sz="2400" b="0" u="none" strike="noStrike" spc="-11">
                <a:solidFill>
                  <a:srgbClr val="C31D3A"/>
                </a:solidFill>
                <a:effectLst/>
                <a:uFillTx/>
                <a:latin typeface="Trebuchet MS"/>
              </a:rPr>
              <a:t>Solution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6000"/>
              </a:lnSpc>
              <a:spcBef>
                <a:spcPts val="955"/>
              </a:spcBef>
            </a:pPr>
            <a:r>
              <a:rPr lang="en-US" sz="2400" b="1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One</a:t>
            </a:r>
            <a:r>
              <a:rPr lang="en-US" sz="2400" b="1" u="none" strike="noStrike" spc="-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1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Centralized</a:t>
            </a:r>
            <a:r>
              <a:rPr lang="en-US" sz="2400" b="1" u="none" strike="noStrike" spc="-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1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Platform</a:t>
            </a:r>
            <a:r>
              <a:rPr lang="en-US" sz="2400" b="1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—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Wealth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Ledger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brings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every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major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asset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class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under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</a:t>
            </a:r>
            <a:r>
              <a:rPr lang="en-US" sz="2400" b="0" u="none" strike="noStrike" spc="-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single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roof, eliminating</a:t>
            </a:r>
            <a:r>
              <a:rPr lang="en-US" sz="2400" b="0" u="none" strike="noStrike" spc="-3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the</a:t>
            </a:r>
            <a:r>
              <a:rPr lang="en-US" sz="24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fragmentation</a:t>
            </a:r>
            <a:r>
              <a:rPr lang="en-US" sz="24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that</a:t>
            </a:r>
            <a:r>
              <a:rPr lang="en-US" sz="24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plagues</a:t>
            </a:r>
            <a:r>
              <a:rPr lang="en-US" sz="24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modern</a:t>
            </a:r>
            <a:r>
              <a:rPr lang="en-US" sz="24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retail</a:t>
            </a:r>
            <a:r>
              <a:rPr lang="en-US" sz="2400" b="0" u="none" strike="noStrike" spc="-3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2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investors</a:t>
            </a: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object 7"/>
          <p:cNvGrpSpPr/>
          <p:nvPr/>
        </p:nvGrpSpPr>
        <p:grpSpPr>
          <a:xfrm>
            <a:off x="9372600" y="6191640"/>
            <a:ext cx="3904200" cy="1352160"/>
            <a:chOff x="9372600" y="6191640"/>
            <a:chExt cx="3904200" cy="1352160"/>
          </a:xfrm>
        </p:grpSpPr>
        <p:sp>
          <p:nvSpPr>
            <p:cNvPr id="38" name="object 8"/>
            <p:cNvSpPr/>
            <p:nvPr/>
          </p:nvSpPr>
          <p:spPr>
            <a:xfrm>
              <a:off x="9372600" y="6191640"/>
              <a:ext cx="3903480" cy="1352160"/>
            </a:xfrm>
            <a:custGeom>
              <a:avLst/>
              <a:gdLst>
                <a:gd name="textAreaLeft" fmla="*/ 0 w 3903480"/>
                <a:gd name="textAreaRight" fmla="*/ 3903840 w 3903480"/>
                <a:gd name="textAreaTop" fmla="*/ 0 h 1352160"/>
                <a:gd name="textAreaBottom" fmla="*/ 1352520 h 1352160"/>
              </a:gdLst>
              <a:ahLst/>
              <a:cxnLst/>
              <a:rect l="textAreaLeft" t="textAreaTop" r="textAreaRight" b="textAreaBottom"/>
              <a:pathLst>
                <a:path w="3903980" h="1352550">
                  <a:moveTo>
                    <a:pt x="3826001" y="1352216"/>
                  </a:moveTo>
                  <a:lnTo>
                    <a:pt x="78772" y="1352216"/>
                  </a:lnTo>
                  <a:lnTo>
                    <a:pt x="48099" y="1346077"/>
                  </a:lnTo>
                  <a:lnTo>
                    <a:pt x="23062" y="1329201"/>
                  </a:lnTo>
                  <a:lnTo>
                    <a:pt x="6186" y="1304164"/>
                  </a:lnTo>
                  <a:lnTo>
                    <a:pt x="0" y="1273492"/>
                  </a:lnTo>
                  <a:lnTo>
                    <a:pt x="0" y="78771"/>
                  </a:lnTo>
                  <a:lnTo>
                    <a:pt x="6186" y="48099"/>
                  </a:lnTo>
                  <a:lnTo>
                    <a:pt x="23062" y="23062"/>
                  </a:lnTo>
                  <a:lnTo>
                    <a:pt x="48099" y="6186"/>
                  </a:lnTo>
                  <a:lnTo>
                    <a:pt x="78772" y="0"/>
                  </a:lnTo>
                  <a:lnTo>
                    <a:pt x="3826001" y="0"/>
                  </a:lnTo>
                  <a:lnTo>
                    <a:pt x="3856673" y="6186"/>
                  </a:lnTo>
                  <a:lnTo>
                    <a:pt x="3881711" y="23062"/>
                  </a:lnTo>
                  <a:lnTo>
                    <a:pt x="3898586" y="48099"/>
                  </a:lnTo>
                  <a:lnTo>
                    <a:pt x="3903468" y="72302"/>
                  </a:lnTo>
                  <a:lnTo>
                    <a:pt x="3903468" y="1279961"/>
                  </a:lnTo>
                  <a:lnTo>
                    <a:pt x="3898586" y="1304164"/>
                  </a:lnTo>
                  <a:lnTo>
                    <a:pt x="3881711" y="1329201"/>
                  </a:lnTo>
                  <a:lnTo>
                    <a:pt x="3856673" y="1346077"/>
                  </a:lnTo>
                  <a:lnTo>
                    <a:pt x="3826001" y="1352216"/>
                  </a:lnTo>
                  <a:close/>
                </a:path>
              </a:pathLst>
            </a:custGeom>
            <a:solidFill>
              <a:srgbClr val="E1E1E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object 9"/>
            <p:cNvSpPr/>
            <p:nvPr/>
          </p:nvSpPr>
          <p:spPr>
            <a:xfrm>
              <a:off x="9372600" y="6191640"/>
              <a:ext cx="3904200" cy="1352160"/>
            </a:xfrm>
            <a:custGeom>
              <a:avLst/>
              <a:gdLst>
                <a:gd name="textAreaLeft" fmla="*/ 0 w 3904200"/>
                <a:gd name="textAreaRight" fmla="*/ 3904560 w 3904200"/>
                <a:gd name="textAreaTop" fmla="*/ 0 h 1352160"/>
                <a:gd name="textAreaBottom" fmla="*/ 1352520 h 1352160"/>
              </a:gdLst>
              <a:ahLst/>
              <a:cxnLst/>
              <a:rect l="textAreaLeft" t="textAreaTop" r="textAreaRight" b="textAreaBottom"/>
              <a:pathLst>
                <a:path w="3904615" h="1352550">
                  <a:moveTo>
                    <a:pt x="0" y="78765"/>
                  </a:moveTo>
                  <a:lnTo>
                    <a:pt x="23060" y="23060"/>
                  </a:lnTo>
                  <a:lnTo>
                    <a:pt x="78765" y="0"/>
                  </a:lnTo>
                  <a:lnTo>
                    <a:pt x="3825682" y="0"/>
                  </a:lnTo>
                  <a:lnTo>
                    <a:pt x="3856351" y="6186"/>
                  </a:lnTo>
                  <a:lnTo>
                    <a:pt x="3881386" y="23060"/>
                  </a:lnTo>
                  <a:lnTo>
                    <a:pt x="3898260" y="48095"/>
                  </a:lnTo>
                  <a:lnTo>
                    <a:pt x="3904446" y="78765"/>
                  </a:lnTo>
                  <a:lnTo>
                    <a:pt x="3904446" y="1273385"/>
                  </a:lnTo>
                  <a:lnTo>
                    <a:pt x="3898260" y="1304055"/>
                  </a:lnTo>
                  <a:lnTo>
                    <a:pt x="3881386" y="1329090"/>
                  </a:lnTo>
                  <a:lnTo>
                    <a:pt x="3856351" y="1345964"/>
                  </a:lnTo>
                  <a:lnTo>
                    <a:pt x="3825682" y="1352151"/>
                  </a:lnTo>
                  <a:lnTo>
                    <a:pt x="78765" y="1352151"/>
                  </a:lnTo>
                  <a:lnTo>
                    <a:pt x="48095" y="1345964"/>
                  </a:lnTo>
                  <a:lnTo>
                    <a:pt x="23060" y="1329090"/>
                  </a:lnTo>
                  <a:lnTo>
                    <a:pt x="6186" y="1304055"/>
                  </a:lnTo>
                  <a:lnTo>
                    <a:pt x="0" y="1273385"/>
                  </a:lnTo>
                  <a:lnTo>
                    <a:pt x="0" y="78765"/>
                  </a:lnTo>
                </a:path>
              </a:pathLst>
            </a:custGeom>
            <a:noFill/>
            <a:ln w="17876">
              <a:solidFill>
                <a:srgbClr val="C7C7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" name="object 10"/>
          <p:cNvSpPr/>
          <p:nvPr/>
        </p:nvSpPr>
        <p:spPr>
          <a:xfrm>
            <a:off x="9601200" y="6400800"/>
            <a:ext cx="2972160" cy="90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>
                <a:solidFill>
                  <a:srgbClr val="3C3838"/>
                </a:solidFill>
                <a:effectLst/>
                <a:uFillTx/>
                <a:latin typeface="Trebuchet MS"/>
              </a:rPr>
              <a:t>All</a:t>
            </a:r>
            <a:r>
              <a:rPr lang="en-US" sz="1800" b="0" u="none" strike="noStrike" spc="-45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1800" b="0" u="none" strike="noStrike" spc="71">
                <a:solidFill>
                  <a:srgbClr val="3C3838"/>
                </a:solidFill>
                <a:effectLst/>
                <a:uFillTx/>
                <a:latin typeface="Trebuchet MS"/>
              </a:rPr>
              <a:t>Asset</a:t>
            </a:r>
            <a:r>
              <a:rPr lang="en-US" sz="1800" b="0" u="none" strike="noStrike" spc="-40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1800" b="0" u="none" strike="noStrike" spc="74">
                <a:solidFill>
                  <a:srgbClr val="3C3838"/>
                </a:solidFill>
                <a:effectLst/>
                <a:uFillTx/>
                <a:latin typeface="Trebuchet MS"/>
              </a:rPr>
              <a:t>Classes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6000"/>
              </a:lnSpc>
              <a:spcBef>
                <a:spcPts val="955"/>
              </a:spcBef>
            </a:pP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Stocks,</a:t>
            </a:r>
            <a:r>
              <a:rPr lang="en-US" sz="14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ETFs,</a:t>
            </a:r>
            <a:r>
              <a:rPr lang="en-US" sz="14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Fixed</a:t>
            </a:r>
            <a:r>
              <a:rPr lang="en-US" sz="1400" b="0" u="none" strike="noStrike" spc="-1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Deposits,</a:t>
            </a:r>
            <a:r>
              <a:rPr lang="en-US" sz="14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Cash</a:t>
            </a:r>
            <a:r>
              <a:rPr lang="en-US" sz="1400" b="0" u="none" strike="noStrike" spc="-1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 spc="-51">
                <a:solidFill>
                  <a:srgbClr val="3C3838"/>
                </a:solidFill>
                <a:effectLst/>
                <a:uFillTx/>
                <a:latin typeface="Roboto"/>
              </a:rPr>
              <a:t>&amp; </a:t>
            </a: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Commodities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object 11"/>
          <p:cNvGrpSpPr/>
          <p:nvPr/>
        </p:nvGrpSpPr>
        <p:grpSpPr>
          <a:xfrm>
            <a:off x="13716000" y="6172200"/>
            <a:ext cx="3904920" cy="1352160"/>
            <a:chOff x="13716000" y="6172200"/>
            <a:chExt cx="3904920" cy="1352160"/>
          </a:xfrm>
        </p:grpSpPr>
        <p:sp>
          <p:nvSpPr>
            <p:cNvPr id="42" name="object 12"/>
            <p:cNvSpPr/>
            <p:nvPr/>
          </p:nvSpPr>
          <p:spPr>
            <a:xfrm>
              <a:off x="13716000" y="6172200"/>
              <a:ext cx="3903480" cy="1352160"/>
            </a:xfrm>
            <a:custGeom>
              <a:avLst/>
              <a:gdLst>
                <a:gd name="textAreaLeft" fmla="*/ 0 w 3903480"/>
                <a:gd name="textAreaRight" fmla="*/ 3903840 w 3903480"/>
                <a:gd name="textAreaTop" fmla="*/ 0 h 1352160"/>
                <a:gd name="textAreaBottom" fmla="*/ 1352520 h 1352160"/>
              </a:gdLst>
              <a:ahLst/>
              <a:cxnLst/>
              <a:rect l="textAreaLeft" t="textAreaTop" r="textAreaRight" b="textAreaBottom"/>
              <a:pathLst>
                <a:path w="3903980" h="1352550">
                  <a:moveTo>
                    <a:pt x="3826192" y="1352216"/>
                  </a:moveTo>
                  <a:lnTo>
                    <a:pt x="78772" y="1352216"/>
                  </a:lnTo>
                  <a:lnTo>
                    <a:pt x="48099" y="1346077"/>
                  </a:lnTo>
                  <a:lnTo>
                    <a:pt x="23062" y="1329201"/>
                  </a:lnTo>
                  <a:lnTo>
                    <a:pt x="6186" y="1304164"/>
                  </a:lnTo>
                  <a:lnTo>
                    <a:pt x="0" y="1273492"/>
                  </a:lnTo>
                  <a:lnTo>
                    <a:pt x="0" y="78771"/>
                  </a:lnTo>
                  <a:lnTo>
                    <a:pt x="6186" y="48099"/>
                  </a:lnTo>
                  <a:lnTo>
                    <a:pt x="23062" y="23062"/>
                  </a:lnTo>
                  <a:lnTo>
                    <a:pt x="48099" y="6186"/>
                  </a:lnTo>
                  <a:lnTo>
                    <a:pt x="78772" y="0"/>
                  </a:lnTo>
                  <a:lnTo>
                    <a:pt x="3826192" y="0"/>
                  </a:lnTo>
                  <a:lnTo>
                    <a:pt x="3856864" y="6186"/>
                  </a:lnTo>
                  <a:lnTo>
                    <a:pt x="3881901" y="23062"/>
                  </a:lnTo>
                  <a:lnTo>
                    <a:pt x="3898777" y="48099"/>
                  </a:lnTo>
                  <a:lnTo>
                    <a:pt x="3903468" y="71357"/>
                  </a:lnTo>
                  <a:lnTo>
                    <a:pt x="3903468" y="1280906"/>
                  </a:lnTo>
                  <a:lnTo>
                    <a:pt x="3898777" y="1304164"/>
                  </a:lnTo>
                  <a:lnTo>
                    <a:pt x="3881901" y="1329201"/>
                  </a:lnTo>
                  <a:lnTo>
                    <a:pt x="3856864" y="1346077"/>
                  </a:lnTo>
                  <a:lnTo>
                    <a:pt x="3826192" y="1352216"/>
                  </a:lnTo>
                  <a:close/>
                </a:path>
              </a:pathLst>
            </a:custGeom>
            <a:solidFill>
              <a:srgbClr val="E1E1E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object 13"/>
            <p:cNvSpPr/>
            <p:nvPr/>
          </p:nvSpPr>
          <p:spPr>
            <a:xfrm>
              <a:off x="13716000" y="6172200"/>
              <a:ext cx="3904920" cy="1352160"/>
            </a:xfrm>
            <a:custGeom>
              <a:avLst/>
              <a:gdLst>
                <a:gd name="textAreaLeft" fmla="*/ 0 w 3904920"/>
                <a:gd name="textAreaRight" fmla="*/ 3905280 w 3904920"/>
                <a:gd name="textAreaTop" fmla="*/ 0 h 1352160"/>
                <a:gd name="textAreaBottom" fmla="*/ 1352520 h 1352160"/>
              </a:gdLst>
              <a:ahLst/>
              <a:cxnLst/>
              <a:rect l="textAreaLeft" t="textAreaTop" r="textAreaRight" b="textAreaBottom"/>
              <a:pathLst>
                <a:path w="3905250" h="1352550">
                  <a:moveTo>
                    <a:pt x="0" y="78765"/>
                  </a:moveTo>
                  <a:lnTo>
                    <a:pt x="6186" y="48096"/>
                  </a:lnTo>
                  <a:lnTo>
                    <a:pt x="23059" y="23060"/>
                  </a:lnTo>
                  <a:lnTo>
                    <a:pt x="48095" y="6186"/>
                  </a:lnTo>
                  <a:lnTo>
                    <a:pt x="78764" y="0"/>
                  </a:lnTo>
                  <a:lnTo>
                    <a:pt x="3825871" y="0"/>
                  </a:lnTo>
                  <a:lnTo>
                    <a:pt x="3881576" y="23060"/>
                  </a:lnTo>
                  <a:lnTo>
                    <a:pt x="3904636" y="78765"/>
                  </a:lnTo>
                  <a:lnTo>
                    <a:pt x="3904636" y="1273385"/>
                  </a:lnTo>
                  <a:lnTo>
                    <a:pt x="3898450" y="1304055"/>
                  </a:lnTo>
                  <a:lnTo>
                    <a:pt x="3881576" y="1329090"/>
                  </a:lnTo>
                  <a:lnTo>
                    <a:pt x="3856541" y="1345964"/>
                  </a:lnTo>
                  <a:lnTo>
                    <a:pt x="3825871" y="1352151"/>
                  </a:lnTo>
                  <a:lnTo>
                    <a:pt x="78764" y="1352150"/>
                  </a:lnTo>
                  <a:lnTo>
                    <a:pt x="23060" y="1329090"/>
                  </a:lnTo>
                  <a:lnTo>
                    <a:pt x="0" y="1273385"/>
                  </a:lnTo>
                  <a:lnTo>
                    <a:pt x="0" y="78765"/>
                  </a:lnTo>
                </a:path>
              </a:pathLst>
            </a:custGeom>
            <a:noFill/>
            <a:ln w="17876">
              <a:solidFill>
                <a:srgbClr val="C7C7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object 14"/>
          <p:cNvSpPr/>
          <p:nvPr/>
        </p:nvSpPr>
        <p:spPr>
          <a:xfrm>
            <a:off x="13944600" y="6397200"/>
            <a:ext cx="3071880" cy="9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60">
                <a:solidFill>
                  <a:srgbClr val="3C3838"/>
                </a:solidFill>
                <a:effectLst/>
                <a:uFillTx/>
                <a:latin typeface="Trebuchet MS"/>
              </a:rPr>
              <a:t>Single</a:t>
            </a:r>
            <a:r>
              <a:rPr lang="en-US" sz="1800" b="0" u="none" strike="noStrike" spc="-74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1800" b="0" u="none" strike="noStrike" spc="60">
                <a:solidFill>
                  <a:srgbClr val="3C3838"/>
                </a:solidFill>
                <a:effectLst/>
                <a:uFillTx/>
                <a:latin typeface="Trebuchet MS"/>
              </a:rPr>
              <a:t>Dashboard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6000"/>
              </a:lnSpc>
              <a:spcBef>
                <a:spcPts val="955"/>
              </a:spcBef>
            </a:pP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Complete</a:t>
            </a:r>
            <a:r>
              <a:rPr lang="en-US" sz="1400" b="0" u="none" strike="noStrike" spc="-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portfolio</a:t>
            </a: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view</a:t>
            </a:r>
            <a:r>
              <a:rPr lang="en-US" sz="1400" b="0" u="none" strike="noStrike" spc="-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with</a:t>
            </a:r>
            <a:r>
              <a:rPr lang="en-US" sz="1400" b="0" u="none" strike="noStrike" spc="-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 spc="-60">
                <a:solidFill>
                  <a:srgbClr val="3C3838"/>
                </a:solidFill>
                <a:effectLst/>
                <a:uFillTx/>
                <a:latin typeface="Roboto"/>
              </a:rPr>
              <a:t>real-</a:t>
            </a:r>
            <a:r>
              <a:rPr lang="en-US" sz="14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time </a:t>
            </a: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performance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object 15"/>
          <p:cNvGrpSpPr/>
          <p:nvPr/>
        </p:nvGrpSpPr>
        <p:grpSpPr>
          <a:xfrm>
            <a:off x="11640600" y="8229600"/>
            <a:ext cx="3904200" cy="1352160"/>
            <a:chOff x="11640600" y="8229600"/>
            <a:chExt cx="3904200" cy="1352160"/>
          </a:xfrm>
        </p:grpSpPr>
        <p:sp>
          <p:nvSpPr>
            <p:cNvPr id="46" name="object 16"/>
            <p:cNvSpPr/>
            <p:nvPr/>
          </p:nvSpPr>
          <p:spPr>
            <a:xfrm>
              <a:off x="11640600" y="8229600"/>
              <a:ext cx="3903480" cy="1352160"/>
            </a:xfrm>
            <a:custGeom>
              <a:avLst/>
              <a:gdLst>
                <a:gd name="textAreaLeft" fmla="*/ 0 w 3903480"/>
                <a:gd name="textAreaRight" fmla="*/ 3903840 w 3903480"/>
                <a:gd name="textAreaTop" fmla="*/ 0 h 1352160"/>
                <a:gd name="textAreaBottom" fmla="*/ 1352520 h 1352160"/>
              </a:gdLst>
              <a:ahLst/>
              <a:cxnLst/>
              <a:rect l="textAreaLeft" t="textAreaTop" r="textAreaRight" b="textAreaBottom"/>
              <a:pathLst>
                <a:path w="3903980" h="1352550">
                  <a:moveTo>
                    <a:pt x="3826001" y="1352216"/>
                  </a:moveTo>
                  <a:lnTo>
                    <a:pt x="78772" y="1352216"/>
                  </a:lnTo>
                  <a:lnTo>
                    <a:pt x="48099" y="1346077"/>
                  </a:lnTo>
                  <a:lnTo>
                    <a:pt x="23062" y="1329201"/>
                  </a:lnTo>
                  <a:lnTo>
                    <a:pt x="6186" y="1304164"/>
                  </a:lnTo>
                  <a:lnTo>
                    <a:pt x="0" y="1273492"/>
                  </a:lnTo>
                  <a:lnTo>
                    <a:pt x="0" y="78772"/>
                  </a:lnTo>
                  <a:lnTo>
                    <a:pt x="6186" y="48099"/>
                  </a:lnTo>
                  <a:lnTo>
                    <a:pt x="23062" y="23062"/>
                  </a:lnTo>
                  <a:lnTo>
                    <a:pt x="48099" y="6186"/>
                  </a:lnTo>
                  <a:lnTo>
                    <a:pt x="78772" y="0"/>
                  </a:lnTo>
                  <a:lnTo>
                    <a:pt x="3826001" y="0"/>
                  </a:lnTo>
                  <a:lnTo>
                    <a:pt x="3856673" y="6186"/>
                  </a:lnTo>
                  <a:lnTo>
                    <a:pt x="3881711" y="23062"/>
                  </a:lnTo>
                  <a:lnTo>
                    <a:pt x="3898586" y="48099"/>
                  </a:lnTo>
                  <a:lnTo>
                    <a:pt x="3903468" y="72302"/>
                  </a:lnTo>
                  <a:lnTo>
                    <a:pt x="3903468" y="1279962"/>
                  </a:lnTo>
                  <a:lnTo>
                    <a:pt x="3898586" y="1304164"/>
                  </a:lnTo>
                  <a:lnTo>
                    <a:pt x="3881711" y="1329201"/>
                  </a:lnTo>
                  <a:lnTo>
                    <a:pt x="3856673" y="1346077"/>
                  </a:lnTo>
                  <a:lnTo>
                    <a:pt x="3826001" y="1352216"/>
                  </a:lnTo>
                  <a:close/>
                </a:path>
              </a:pathLst>
            </a:custGeom>
            <a:solidFill>
              <a:srgbClr val="E1E1E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object 17"/>
            <p:cNvSpPr/>
            <p:nvPr/>
          </p:nvSpPr>
          <p:spPr>
            <a:xfrm>
              <a:off x="11640600" y="8229600"/>
              <a:ext cx="3904200" cy="1352160"/>
            </a:xfrm>
            <a:custGeom>
              <a:avLst/>
              <a:gdLst>
                <a:gd name="textAreaLeft" fmla="*/ 0 w 3904200"/>
                <a:gd name="textAreaRight" fmla="*/ 3904560 w 3904200"/>
                <a:gd name="textAreaTop" fmla="*/ 0 h 1352160"/>
                <a:gd name="textAreaBottom" fmla="*/ 1352520 h 1352160"/>
              </a:gdLst>
              <a:ahLst/>
              <a:cxnLst/>
              <a:rect l="textAreaLeft" t="textAreaTop" r="textAreaRight" b="textAreaBottom"/>
              <a:pathLst>
                <a:path w="3904615" h="1352550">
                  <a:moveTo>
                    <a:pt x="0" y="78765"/>
                  </a:moveTo>
                  <a:lnTo>
                    <a:pt x="23060" y="23060"/>
                  </a:lnTo>
                  <a:lnTo>
                    <a:pt x="78765" y="0"/>
                  </a:lnTo>
                  <a:lnTo>
                    <a:pt x="3825681" y="0"/>
                  </a:lnTo>
                  <a:lnTo>
                    <a:pt x="3856351" y="6186"/>
                  </a:lnTo>
                  <a:lnTo>
                    <a:pt x="3881386" y="23060"/>
                  </a:lnTo>
                  <a:lnTo>
                    <a:pt x="3898260" y="48095"/>
                  </a:lnTo>
                  <a:lnTo>
                    <a:pt x="3904446" y="78765"/>
                  </a:lnTo>
                  <a:lnTo>
                    <a:pt x="3904446" y="1273385"/>
                  </a:lnTo>
                  <a:lnTo>
                    <a:pt x="3898260" y="1304055"/>
                  </a:lnTo>
                  <a:lnTo>
                    <a:pt x="3881386" y="1329090"/>
                  </a:lnTo>
                  <a:lnTo>
                    <a:pt x="3856351" y="1345964"/>
                  </a:lnTo>
                  <a:lnTo>
                    <a:pt x="3825681" y="1352151"/>
                  </a:lnTo>
                  <a:lnTo>
                    <a:pt x="78765" y="1352151"/>
                  </a:lnTo>
                  <a:lnTo>
                    <a:pt x="48095" y="1345964"/>
                  </a:lnTo>
                  <a:lnTo>
                    <a:pt x="23060" y="1329090"/>
                  </a:lnTo>
                  <a:lnTo>
                    <a:pt x="6186" y="1304055"/>
                  </a:lnTo>
                  <a:lnTo>
                    <a:pt x="0" y="1273385"/>
                  </a:lnTo>
                  <a:lnTo>
                    <a:pt x="0" y="78765"/>
                  </a:lnTo>
                </a:path>
              </a:pathLst>
            </a:custGeom>
            <a:noFill/>
            <a:ln w="17876">
              <a:solidFill>
                <a:srgbClr val="C7C7D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object 18"/>
          <p:cNvSpPr/>
          <p:nvPr/>
        </p:nvSpPr>
        <p:spPr>
          <a:xfrm>
            <a:off x="11824560" y="8454600"/>
            <a:ext cx="3491640" cy="9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45">
                <a:solidFill>
                  <a:srgbClr val="3C3838"/>
                </a:solidFill>
                <a:effectLst/>
                <a:uFillTx/>
                <a:latin typeface="Trebuchet MS"/>
              </a:rPr>
              <a:t>Automated</a:t>
            </a:r>
            <a:r>
              <a:rPr lang="en-US" sz="1800" b="0" u="none" strike="noStrike" spc="-60">
                <a:solidFill>
                  <a:srgbClr val="3C3838"/>
                </a:solidFill>
                <a:effectLst/>
                <a:uFillTx/>
                <a:latin typeface="Trebuchet MS"/>
              </a:rPr>
              <a:t> </a:t>
            </a:r>
            <a:r>
              <a:rPr lang="en-US" sz="1800" b="0" u="none" strike="noStrike" spc="-11">
                <a:solidFill>
                  <a:srgbClr val="3C3838"/>
                </a:solidFill>
                <a:effectLst/>
                <a:uFillTx/>
                <a:latin typeface="Trebuchet MS"/>
              </a:rPr>
              <a:t>Tracking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25"/>
              </a:spcBef>
            </a:pP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Transactions,</a:t>
            </a:r>
            <a:r>
              <a:rPr lang="en-US" sz="14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P/L,</a:t>
            </a:r>
            <a:r>
              <a:rPr lang="en-US" sz="14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and</a:t>
            </a:r>
            <a:r>
              <a:rPr lang="en-US" sz="1400" b="0" u="none" strike="noStrike" spc="-26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currency</a:t>
            </a:r>
            <a:r>
              <a:rPr lang="en-US" sz="14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 spc="-11">
                <a:solidFill>
                  <a:srgbClr val="3C3838"/>
                </a:solidFill>
                <a:effectLst/>
                <a:uFillTx/>
                <a:latin typeface="Roboto"/>
              </a:rPr>
              <a:t>conversion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9"/>
              </a:spcBef>
            </a:pPr>
            <a:r>
              <a:rPr lang="en-US" sz="1400" b="0" u="none" strike="noStrike">
                <a:solidFill>
                  <a:srgbClr val="3C3838"/>
                </a:solidFill>
                <a:effectLst/>
                <a:uFillTx/>
                <a:latin typeface="Roboto"/>
              </a:rPr>
              <a:t>—</a:t>
            </a:r>
            <a:r>
              <a:rPr lang="en-US" sz="1400" b="0" u="none" strike="noStrike" spc="14">
                <a:solidFill>
                  <a:srgbClr val="3C3838"/>
                </a:solidFill>
                <a:effectLst/>
                <a:uFillTx/>
                <a:latin typeface="Roboto"/>
              </a:rPr>
              <a:t> </a:t>
            </a:r>
            <a:r>
              <a:rPr lang="en-US" sz="1400" b="0" u="none" strike="noStrike" spc="-60">
                <a:solidFill>
                  <a:srgbClr val="3C3838"/>
                </a:solidFill>
                <a:effectLst/>
                <a:uFillTx/>
                <a:latin typeface="Roboto"/>
              </a:rPr>
              <a:t>hands-</a:t>
            </a:r>
            <a:r>
              <a:rPr lang="en-US" sz="1400" b="0" u="none" strike="noStrike" spc="-20">
                <a:solidFill>
                  <a:srgbClr val="3C3838"/>
                </a:solidFill>
                <a:effectLst/>
                <a:uFillTx/>
                <a:latin typeface="Roboto"/>
              </a:rPr>
              <a:t>free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00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Key</a:t>
            </a:r>
            <a:r>
              <a:rPr spc="-260" dirty="0"/>
              <a:t> </a:t>
            </a:r>
            <a:r>
              <a:rPr spc="35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53" y="3117656"/>
            <a:ext cx="4031761" cy="29762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8427" y="6430232"/>
            <a:ext cx="23990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3C3838"/>
                </a:solidFill>
                <a:latin typeface="Trebuchet MS"/>
                <a:cs typeface="Trebuchet MS"/>
              </a:rPr>
              <a:t>Portfolio</a:t>
            </a:r>
            <a:r>
              <a:rPr sz="2000" spc="-3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3C3838"/>
                </a:solidFill>
                <a:latin typeface="Trebuchet MS"/>
                <a:cs typeface="Trebuchet MS"/>
              </a:rPr>
              <a:t>Dashboard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5750" y="72631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192" y="7073289"/>
            <a:ext cx="29444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Total</a:t>
            </a:r>
            <a:r>
              <a:rPr sz="16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Net</a:t>
            </a:r>
            <a:r>
              <a:rPr sz="16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Worth</a:t>
            </a:r>
            <a:r>
              <a:rPr sz="16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6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3C3838"/>
                </a:solidFill>
                <a:latin typeface="Roboto"/>
                <a:cs typeface="Roboto"/>
              </a:rPr>
              <a:t>Daily</a:t>
            </a:r>
            <a:r>
              <a:rPr sz="16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Change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Asset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Allocation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Overview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Top</a:t>
            </a:r>
            <a:r>
              <a:rPr sz="16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Gainers</a:t>
            </a:r>
            <a:r>
              <a:rPr sz="16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6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Recent</a:t>
            </a:r>
            <a:r>
              <a:rPr sz="16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Activity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5750" y="75679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5750" y="78727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1445" y="3012671"/>
            <a:ext cx="3891190" cy="308250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92979" y="6430232"/>
            <a:ext cx="30175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0" dirty="0">
                <a:solidFill>
                  <a:srgbClr val="3C3838"/>
                </a:solidFill>
                <a:latin typeface="Trebuchet MS"/>
                <a:cs typeface="Trebuchet MS"/>
              </a:rPr>
              <a:t>Investment</a:t>
            </a:r>
            <a:r>
              <a:rPr sz="2000" spc="-9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2000" spc="100" dirty="0">
                <a:solidFill>
                  <a:srgbClr val="3C3838"/>
                </a:solidFill>
                <a:latin typeface="Trebuchet MS"/>
                <a:cs typeface="Trebuchet MS"/>
              </a:rPr>
              <a:t>Management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77399" y="72631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49841" y="7073289"/>
            <a:ext cx="343725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Add,</a:t>
            </a:r>
            <a:r>
              <a:rPr sz="16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Edit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Delete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Investments Stocks,</a:t>
            </a:r>
            <a:r>
              <a:rPr sz="16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ETFs,</a:t>
            </a:r>
            <a:r>
              <a:rPr sz="16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Fixed</a:t>
            </a:r>
            <a:r>
              <a:rPr sz="16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Deposits,</a:t>
            </a:r>
            <a:r>
              <a:rPr sz="16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Cash</a:t>
            </a:r>
            <a:r>
              <a:rPr sz="16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50" dirty="0">
                <a:solidFill>
                  <a:srgbClr val="3C3838"/>
                </a:solidFill>
                <a:latin typeface="Roboto"/>
                <a:cs typeface="Roboto"/>
              </a:rPr>
              <a:t>&amp;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Commodities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77399" y="75679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6854" y="2990554"/>
            <a:ext cx="4244188" cy="29595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051223" y="6430232"/>
            <a:ext cx="30702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3C3838"/>
                </a:solidFill>
                <a:latin typeface="Trebuchet MS"/>
                <a:cs typeface="Trebuchet MS"/>
              </a:rPr>
              <a:t>Transaction</a:t>
            </a:r>
            <a:r>
              <a:rPr sz="2000" spc="30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2000" spc="100" dirty="0">
                <a:solidFill>
                  <a:srgbClr val="3C3838"/>
                </a:solidFill>
                <a:latin typeface="Trebuchet MS"/>
                <a:cs typeface="Trebuchet MS"/>
              </a:rPr>
              <a:t>Management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59173" y="72631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31615" y="7073289"/>
            <a:ext cx="34378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9485">
              <a:lnSpc>
                <a:spcPct val="121200"/>
              </a:lnSpc>
              <a:spcBef>
                <a:spcPts val="100"/>
              </a:spcBef>
            </a:pPr>
            <a:r>
              <a:rPr sz="1650" spc="-20" dirty="0">
                <a:solidFill>
                  <a:srgbClr val="3C3838"/>
                </a:solidFill>
                <a:latin typeface="Roboto"/>
                <a:cs typeface="Roboto"/>
              </a:rPr>
              <a:t>Buy/Sell</a:t>
            </a:r>
            <a:r>
              <a:rPr sz="1650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Tracking</a:t>
            </a:r>
            <a:r>
              <a:rPr sz="1650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sz="1650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25" dirty="0">
                <a:solidFill>
                  <a:srgbClr val="3C3838"/>
                </a:solidFill>
                <a:latin typeface="Roboto"/>
                <a:cs typeface="Roboto"/>
              </a:rPr>
              <a:t>P/L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Calculations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650" spc="-20" dirty="0">
                <a:solidFill>
                  <a:srgbClr val="3C3838"/>
                </a:solidFill>
                <a:latin typeface="Roboto"/>
                <a:cs typeface="Roboto"/>
              </a:rPr>
              <a:t>Transaction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History</a:t>
            </a:r>
            <a:r>
              <a:rPr sz="16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6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FX</a:t>
            </a:r>
            <a:r>
              <a:rPr sz="16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Conversion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59173" y="78727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06849" y="2970219"/>
            <a:ext cx="4459175" cy="295693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3953207" y="6430232"/>
            <a:ext cx="27927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0" dirty="0">
                <a:solidFill>
                  <a:srgbClr val="3C3838"/>
                </a:solidFill>
                <a:latin typeface="Trebuchet MS"/>
                <a:cs typeface="Trebuchet MS"/>
              </a:rPr>
              <a:t>Reporting</a:t>
            </a:r>
            <a:r>
              <a:rPr sz="2000" spc="-7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C3838"/>
                </a:solidFill>
                <a:latin typeface="Trebuchet MS"/>
                <a:cs typeface="Trebuchet MS"/>
              </a:rPr>
              <a:t>G</a:t>
            </a:r>
            <a:r>
              <a:rPr sz="2000" spc="-7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3C3838"/>
                </a:solidFill>
                <a:latin typeface="Trebuchet MS"/>
                <a:cs typeface="Trebuchet MS"/>
              </a:rPr>
              <a:t>Milestones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061157" y="72631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233599" y="7073289"/>
            <a:ext cx="3288029" cy="6350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Export</a:t>
            </a:r>
            <a:r>
              <a:rPr sz="1650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Portfolio</a:t>
            </a:r>
            <a:r>
              <a:rPr sz="1650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3C3838"/>
                </a:solidFill>
                <a:latin typeface="Roboto"/>
                <a:cs typeface="Roboto"/>
              </a:rPr>
              <a:t>Data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Track</a:t>
            </a:r>
            <a:r>
              <a:rPr sz="16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Milestones</a:t>
            </a:r>
            <a:r>
              <a:rPr sz="16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6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3C3838"/>
                </a:solidFill>
                <a:latin typeface="Roboto"/>
                <a:cs typeface="Roboto"/>
              </a:rPr>
              <a:t>Financial</a:t>
            </a:r>
            <a:r>
              <a:rPr sz="16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Roboto"/>
                <a:cs typeface="Roboto"/>
              </a:rPr>
              <a:t>Goals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4061157" y="756793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C383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D367A1-CEB8-F304-26A9-B6BFDA4FA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295392"/>
            <a:ext cx="8278380" cy="3696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94E89-6E50-0B61-73F0-65B31E27A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636" y="3295392"/>
            <a:ext cx="8306959" cy="3696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58B697B-101E-2EC1-ADE9-12F9898E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384" y="1196591"/>
            <a:ext cx="16393215" cy="646331"/>
          </a:xfrm>
        </p:spPr>
        <p:txBody>
          <a:bodyPr/>
          <a:lstStyle/>
          <a:p>
            <a:r>
              <a:rPr lang="en-US" dirty="0"/>
              <a:t>Lighthouse Screenshots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75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FCDC86-687E-C140-56E5-CED21755E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5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C0827-C165-3B6B-2187-86745FC37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4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67200" y="1181100"/>
            <a:ext cx="12126015" cy="859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b="0" spc="360" dirty="0">
                <a:latin typeface="Trebuchet MS"/>
                <a:cs typeface="Trebuchet MS"/>
              </a:rPr>
              <a:t>TECHN</a:t>
            </a:r>
            <a:r>
              <a:rPr lang="en-US" sz="5500" b="0" spc="360" dirty="0">
                <a:latin typeface="Trebuchet MS"/>
                <a:cs typeface="Trebuchet MS"/>
              </a:rPr>
              <a:t>OLOGY STACK </a:t>
            </a:r>
            <a:endParaRPr sz="55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399" y="2340878"/>
            <a:ext cx="14031015" cy="76794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88022" y="9936971"/>
            <a:ext cx="222250" cy="2190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25" dirty="0">
                <a:latin typeface="Arial MT"/>
                <a:cs typeface="Arial MT"/>
              </a:rPr>
              <a:t>‹#›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1686" y="0"/>
            <a:ext cx="6086313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985068" y="4000089"/>
            <a:ext cx="7038975" cy="1441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300" dirty="0">
                <a:solidFill>
                  <a:srgbClr val="333333"/>
                </a:solidFill>
                <a:latin typeface="Arial"/>
                <a:cs typeface="Arial"/>
              </a:rPr>
              <a:t>THANK</a:t>
            </a:r>
            <a:r>
              <a:rPr sz="9300" spc="-3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9300" spc="-25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endParaRPr sz="9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232</Words>
  <Application>Microsoft Office PowerPoint</Application>
  <PresentationFormat>Custom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MT</vt:lpstr>
      <vt:lpstr>Calibri</vt:lpstr>
      <vt:lpstr>Roboto</vt:lpstr>
      <vt:lpstr>Symbol</vt:lpstr>
      <vt:lpstr>Times New Roman</vt:lpstr>
      <vt:lpstr>Trebuchet MS</vt:lpstr>
      <vt:lpstr>Wingdings</vt:lpstr>
      <vt:lpstr>Office Theme</vt:lpstr>
      <vt:lpstr>PORTFOLIO MANAGEMENT</vt:lpstr>
      <vt:lpstr>The Problem &amp; The Solution</vt:lpstr>
      <vt:lpstr>Key Features</vt:lpstr>
      <vt:lpstr>Lighthouse Screenshots</vt:lpstr>
      <vt:lpstr>PowerPoint Presentation</vt:lpstr>
      <vt:lpstr>PowerPoint Presentation</vt:lpstr>
      <vt:lpstr>TECHNOLOGY STACK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runtime_rebels.pptx</dc:title>
  <dc:creator>Vishnupriya Arvapalli</dc:creator>
  <cp:keywords>DAHRh4ppERI,BAF-026V6UY</cp:keywords>
  <cp:lastModifiedBy>Prince Singh</cp:lastModifiedBy>
  <cp:revision>1</cp:revision>
  <dcterms:created xsi:type="dcterms:W3CDTF">2026-08-07T03:37:59Z</dcterms:created>
  <dcterms:modified xsi:type="dcterms:W3CDTF">2026-08-07T04:48:44Z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2026-08-07T00:00:00Z</vt:filetime>
  </property>
  <property fmtid="{D5CDD505-2E9C-101B-9397-08002B2CF9AE}" pid="6" name="Producer">
    <vt:lpwstr>Canva</vt:lpwstr>
  </property>
</Properties>
</file>